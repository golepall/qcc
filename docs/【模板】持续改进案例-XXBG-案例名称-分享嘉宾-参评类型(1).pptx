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131" r:id="rId2"/>
    <p:sldId id="1133" r:id="rId3"/>
    <p:sldId id="1134" r:id="rId4"/>
    <p:sldId id="1135" r:id="rId5"/>
    <p:sldId id="1136" r:id="rId6"/>
    <p:sldId id="1137" r:id="rId7"/>
    <p:sldId id="1138" r:id="rId8"/>
    <p:sldId id="1139" r:id="rId9"/>
    <p:sldId id="1144" r:id="rId10"/>
    <p:sldId id="1140" r:id="rId11"/>
    <p:sldId id="1141" r:id="rId12"/>
    <p:sldId id="1142" r:id="rId13"/>
    <p:sldId id="1127" r:id="rId14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Segoe UI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0010"/>
    <a:srgbClr val="595656"/>
    <a:srgbClr val="D5050F"/>
    <a:srgbClr val="3F3F3F"/>
    <a:srgbClr val="F6F7FB"/>
    <a:srgbClr val="D8020E"/>
    <a:srgbClr val="595757"/>
    <a:srgbClr val="A90002"/>
    <a:srgbClr val="F59E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7" autoAdjust="0"/>
    <p:restoredTop sz="93340" autoAdjust="0"/>
  </p:normalViewPr>
  <p:slideViewPr>
    <p:cSldViewPr snapToGrid="0">
      <p:cViewPr varScale="1">
        <p:scale>
          <a:sx n="69" d="100"/>
          <a:sy n="69" d="100"/>
        </p:scale>
        <p:origin x="20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47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F04623-1B15-3C4F-9866-2C65878375A5}" type="datetimeFigureOut">
              <a:rPr kumimoji="1" lang="zh-CN" altLang="en-US" smtClean="0"/>
              <a:t>2024/3/26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ABAFF-2200-E44C-8303-5E2FC21D12B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25418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2BD6B42A-9459-654D-AFD6-0EF5A10F38FB}" type="datetimeFigureOut">
              <a:rPr lang="zh-CN" altLang="en-US"/>
              <a:t>2024/3/26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fld id="{8B994B42-4785-6D49-8178-416158B364BE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215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B994B42-4785-6D49-8178-416158B364B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055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0822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bg>
      <p:bgPr>
        <a:solidFill>
          <a:srgbClr val="E8E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5503D049-985E-F944-B634-B8F83DCAD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7FD4119B-87DB-B241-BAD7-F555B41061B5}"/>
              </a:ext>
            </a:extLst>
          </p:cNvPr>
          <p:cNvSpPr/>
          <p:nvPr userDrawn="1"/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rgbClr val="E8EFFF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800" dirty="0"/>
              <a:t>、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 hasCustomPrompt="1"/>
          </p:nvPr>
        </p:nvSpPr>
        <p:spPr>
          <a:xfrm>
            <a:off x="518109" y="2957196"/>
            <a:ext cx="5352800" cy="750601"/>
          </a:xfrm>
          <a:prstGeom prst="rect">
            <a:avLst/>
          </a:prstGeom>
        </p:spPr>
        <p:txBody>
          <a:bodyPr lIns="90000" anchor="ctr" anchorCtr="0"/>
          <a:lstStyle>
            <a:lvl1pPr marL="0" indent="0">
              <a:buNone/>
              <a:defRPr sz="4800" b="1">
                <a:solidFill>
                  <a:srgbClr val="08080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主标题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518109" y="3718659"/>
            <a:ext cx="5352800" cy="750601"/>
          </a:xfrm>
          <a:prstGeom prst="rect">
            <a:avLst/>
          </a:prstGeom>
        </p:spPr>
        <p:txBody>
          <a:bodyPr lIns="90000" anchor="ctr" anchorCtr="0"/>
          <a:lstStyle>
            <a:lvl1pPr marL="0" indent="0">
              <a:buNone/>
              <a:defRPr sz="4000" b="1">
                <a:solidFill>
                  <a:srgbClr val="D6011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主标题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E02C2121-A347-CA43-A322-C5933C0422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018" y="382269"/>
            <a:ext cx="2977624" cy="46166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2197671F-66CF-4143-A296-C23182DB9BA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5735" y="333469"/>
            <a:ext cx="1865296" cy="55926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="" xmlns:a16="http://schemas.microsoft.com/office/drawing/2014/main" id="{D359FF6C-552E-8445-A29B-F2D16849E8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019" y="6014070"/>
            <a:ext cx="1186543" cy="403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282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米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单圆角矩形 11">
            <a:extLst>
              <a:ext uri="{FF2B5EF4-FFF2-40B4-BE49-F238E27FC236}">
                <a16:creationId xmlns="" xmlns:a16="http://schemas.microsoft.com/office/drawing/2014/main" id="{C1B57A58-9811-3A41-ACA9-07B624355AB5}"/>
              </a:ext>
            </a:extLst>
          </p:cNvPr>
          <p:cNvSpPr/>
          <p:nvPr userDrawn="1"/>
        </p:nvSpPr>
        <p:spPr>
          <a:xfrm>
            <a:off x="11501350" y="6526225"/>
            <a:ext cx="575421" cy="215444"/>
          </a:xfrm>
          <a:prstGeom prst="round1Rect">
            <a:avLst>
              <a:gd name="adj" fmla="val 50000"/>
            </a:avLst>
          </a:prstGeom>
          <a:solidFill>
            <a:srgbClr val="D60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13" name="灯片编号占位符 5">
            <a:extLst>
              <a:ext uri="{FF2B5EF4-FFF2-40B4-BE49-F238E27FC236}">
                <a16:creationId xmlns="" xmlns:a16="http://schemas.microsoft.com/office/drawing/2014/main" id="{860EAC0B-CD34-5E49-8635-78C0B1B38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348" y="6448463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B79F024C-2FDD-3E49-A1A1-F636F6FE37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1907" y="307573"/>
            <a:ext cx="2201938" cy="34139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="" xmlns:a16="http://schemas.microsoft.com/office/drawing/2014/main" id="{8A6B845E-89B7-D648-A720-CC3422C0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97" y="262994"/>
            <a:ext cx="5596702" cy="600813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30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微软雅黑 粗体 </a:t>
            </a:r>
            <a:r>
              <a:rPr kumimoji="1" lang="en-US" altLang="zh-CN" dirty="0"/>
              <a:t>28</a:t>
            </a:r>
            <a:r>
              <a:rPr kumimoji="1" lang="zh-CN" altLang="en-US" dirty="0"/>
              <a:t>号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="" xmlns:a16="http://schemas.microsoft.com/office/drawing/2014/main" id="{DDCD46F7-DFBF-CE47-954C-47B7CA1E5E43}"/>
              </a:ext>
            </a:extLst>
          </p:cNvPr>
          <p:cNvSpPr/>
          <p:nvPr userDrawn="1"/>
        </p:nvSpPr>
        <p:spPr>
          <a:xfrm>
            <a:off x="358155" y="239292"/>
            <a:ext cx="54641" cy="6482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C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10" name="矩形 9">
            <a:extLst>
              <a:ext uri="{FF2B5EF4-FFF2-40B4-BE49-F238E27FC236}">
                <a16:creationId xmlns="" xmlns:a16="http://schemas.microsoft.com/office/drawing/2014/main" id="{BAFB6C45-60A4-FD4B-98EF-8EAA86EF5DD7}"/>
              </a:ext>
            </a:extLst>
          </p:cNvPr>
          <p:cNvSpPr/>
          <p:nvPr userDrawn="1"/>
        </p:nvSpPr>
        <p:spPr>
          <a:xfrm>
            <a:off x="0" y="6537236"/>
            <a:ext cx="11332603" cy="1861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B7370BEF-D540-3742-8177-1489ED48CD90}"/>
              </a:ext>
            </a:extLst>
          </p:cNvPr>
          <p:cNvSpPr txBox="1"/>
          <p:nvPr userDrawn="1"/>
        </p:nvSpPr>
        <p:spPr>
          <a:xfrm>
            <a:off x="7266643" y="6517887"/>
            <a:ext cx="4116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0" i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©2023</a:t>
            </a:r>
            <a:r>
              <a:rPr kumimoji="1" lang="zh-CN" altLang="en-US" sz="800" b="0" i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</p:spTree>
    <p:extLst>
      <p:ext uri="{BB962C8B-B14F-4D97-AF65-F5344CB8AC3E}">
        <p14:creationId xmlns:p14="http://schemas.microsoft.com/office/powerpoint/2010/main" val="4249258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米色背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06" r="22232" b="56316"/>
          <a:stretch/>
        </p:blipFill>
        <p:spPr>
          <a:xfrm>
            <a:off x="0" y="-1"/>
            <a:ext cx="12192000" cy="759131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0" y="0"/>
            <a:ext cx="12192000" cy="759131"/>
          </a:xfrm>
          <a:prstGeom prst="rect">
            <a:avLst/>
          </a:prstGeom>
          <a:solidFill>
            <a:srgbClr val="E8EFFF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EA9BD532-0A4E-1943-B568-A93F1DD0CE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1907" y="247032"/>
            <a:ext cx="2201938" cy="341399"/>
          </a:xfrm>
          <a:prstGeom prst="rect">
            <a:avLst/>
          </a:prstGeom>
        </p:spPr>
      </p:pic>
      <p:sp>
        <p:nvSpPr>
          <p:cNvPr id="15" name="单圆角矩形 14">
            <a:extLst>
              <a:ext uri="{FF2B5EF4-FFF2-40B4-BE49-F238E27FC236}">
                <a16:creationId xmlns="" xmlns:a16="http://schemas.microsoft.com/office/drawing/2014/main" id="{72D2C55B-CA5F-3E45-AE93-50385CDC552D}"/>
              </a:ext>
            </a:extLst>
          </p:cNvPr>
          <p:cNvSpPr/>
          <p:nvPr userDrawn="1"/>
        </p:nvSpPr>
        <p:spPr>
          <a:xfrm>
            <a:off x="11501350" y="6526225"/>
            <a:ext cx="575421" cy="215444"/>
          </a:xfrm>
          <a:prstGeom prst="round1Rect">
            <a:avLst>
              <a:gd name="adj" fmla="val 50000"/>
            </a:avLst>
          </a:prstGeom>
          <a:solidFill>
            <a:srgbClr val="D60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16" name="灯片编号占位符 5">
            <a:extLst>
              <a:ext uri="{FF2B5EF4-FFF2-40B4-BE49-F238E27FC236}">
                <a16:creationId xmlns="" xmlns:a16="http://schemas.microsoft.com/office/drawing/2014/main" id="{AA7B5600-D5AA-C343-BB2E-67DDE6B03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348" y="6448463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="" xmlns:a16="http://schemas.microsoft.com/office/drawing/2014/main" id="{368547DB-4E1A-1743-B431-56B3AEB7B6EB}"/>
              </a:ext>
            </a:extLst>
          </p:cNvPr>
          <p:cNvSpPr/>
          <p:nvPr userDrawn="1"/>
        </p:nvSpPr>
        <p:spPr>
          <a:xfrm>
            <a:off x="0" y="6537236"/>
            <a:ext cx="11332603" cy="1861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="" xmlns:a16="http://schemas.microsoft.com/office/drawing/2014/main" id="{E078B6BD-2F36-1F47-AFD3-DC2EE01931B1}"/>
              </a:ext>
            </a:extLst>
          </p:cNvPr>
          <p:cNvSpPr txBox="1"/>
          <p:nvPr userDrawn="1"/>
        </p:nvSpPr>
        <p:spPr>
          <a:xfrm>
            <a:off x="7266643" y="6517887"/>
            <a:ext cx="4116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0" i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©2023</a:t>
            </a:r>
            <a:r>
              <a:rPr kumimoji="1" lang="zh-CN" altLang="en-US" sz="800" b="0" i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="" xmlns:a16="http://schemas.microsoft.com/office/drawing/2014/main" id="{1E6DF628-A65D-534A-9F24-3029CB3504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97" y="111428"/>
            <a:ext cx="5596702" cy="600813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30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微软雅黑 粗体 </a:t>
            </a:r>
            <a:r>
              <a:rPr kumimoji="1" lang="en-US" altLang="zh-CN" dirty="0"/>
              <a:t>28</a:t>
            </a:r>
            <a:r>
              <a:rPr kumimoji="1" lang="zh-CN" altLang="en-US" dirty="0"/>
              <a:t>号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="" xmlns:a16="http://schemas.microsoft.com/office/drawing/2014/main" id="{1FCB5FA9-61FE-344F-99B1-BF4F47F78EBB}"/>
              </a:ext>
            </a:extLst>
          </p:cNvPr>
          <p:cNvSpPr/>
          <p:nvPr userDrawn="1"/>
        </p:nvSpPr>
        <p:spPr>
          <a:xfrm>
            <a:off x="358155" y="87726"/>
            <a:ext cx="54641" cy="6482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C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4784766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米色背景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A0F4079A-D1C6-EC45-A9F3-6CCE583F0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3A91334-F321-5640-A28D-FDC6D8C4181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E8E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12" name="单圆角矩形 11">
            <a:extLst>
              <a:ext uri="{FF2B5EF4-FFF2-40B4-BE49-F238E27FC236}">
                <a16:creationId xmlns="" xmlns:a16="http://schemas.microsoft.com/office/drawing/2014/main" id="{C1B57A58-9811-3A41-ACA9-07B624355AB5}"/>
              </a:ext>
            </a:extLst>
          </p:cNvPr>
          <p:cNvSpPr/>
          <p:nvPr userDrawn="1"/>
        </p:nvSpPr>
        <p:spPr>
          <a:xfrm>
            <a:off x="11501350" y="6526225"/>
            <a:ext cx="575421" cy="215444"/>
          </a:xfrm>
          <a:prstGeom prst="round1Rect">
            <a:avLst>
              <a:gd name="adj" fmla="val 50000"/>
            </a:avLst>
          </a:prstGeom>
          <a:solidFill>
            <a:srgbClr val="D601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13" name="灯片编号占位符 5">
            <a:extLst>
              <a:ext uri="{FF2B5EF4-FFF2-40B4-BE49-F238E27FC236}">
                <a16:creationId xmlns="" xmlns:a16="http://schemas.microsoft.com/office/drawing/2014/main" id="{860EAC0B-CD34-5E49-8635-78C0B1B38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1348" y="6448463"/>
            <a:ext cx="5754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>
                <a:solidFill>
                  <a:schemeClr val="bg1"/>
                </a:solidFill>
              </a:defRPr>
            </a:lvl1pPr>
          </a:lstStyle>
          <a:p>
            <a:fld id="{BA5AA548-F88F-1644-9623-DEB29B1AF9E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="" xmlns:a16="http://schemas.microsoft.com/office/drawing/2014/main" id="{B79F024C-2FDD-3E49-A1A1-F636F6FE37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1907" y="307573"/>
            <a:ext cx="2201938" cy="341399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="" xmlns:a16="http://schemas.microsoft.com/office/drawing/2014/main" id="{8A6B845E-89B7-D648-A720-CC3422C0AF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9297" y="262994"/>
            <a:ext cx="5596702" cy="600813"/>
          </a:xfrm>
          <a:prstGeom prst="rect">
            <a:avLst/>
          </a:prstGeom>
        </p:spPr>
        <p:txBody>
          <a:bodyPr anchor="ctr" anchorCtr="0"/>
          <a:lstStyle>
            <a:lvl1pPr marL="0" marR="0" indent="0" algn="l" defTabSz="914309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8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zh-CN" altLang="en-US" dirty="0"/>
              <a:t>微软雅黑 粗体 </a:t>
            </a:r>
            <a:r>
              <a:rPr kumimoji="1" lang="en-US" altLang="zh-CN" dirty="0"/>
              <a:t>28</a:t>
            </a:r>
            <a:r>
              <a:rPr kumimoji="1" lang="zh-CN" altLang="en-US" dirty="0"/>
              <a:t>号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="" xmlns:a16="http://schemas.microsoft.com/office/drawing/2014/main" id="{DDCD46F7-DFBF-CE47-954C-47B7CA1E5E43}"/>
              </a:ext>
            </a:extLst>
          </p:cNvPr>
          <p:cNvSpPr/>
          <p:nvPr userDrawn="1"/>
        </p:nvSpPr>
        <p:spPr>
          <a:xfrm>
            <a:off x="358155" y="239292"/>
            <a:ext cx="54641" cy="64821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C00000"/>
              </a:gs>
              <a:gs pos="100000">
                <a:srgbClr val="C00000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22E8EB5B-6AD0-8047-93D1-45C2F8943B9A}"/>
              </a:ext>
            </a:extLst>
          </p:cNvPr>
          <p:cNvSpPr/>
          <p:nvPr userDrawn="1"/>
        </p:nvSpPr>
        <p:spPr>
          <a:xfrm>
            <a:off x="0" y="6537236"/>
            <a:ext cx="11332603" cy="18614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28CD60ED-4B31-474A-905D-A13F1DFED2A2}"/>
              </a:ext>
            </a:extLst>
          </p:cNvPr>
          <p:cNvSpPr txBox="1"/>
          <p:nvPr userDrawn="1"/>
        </p:nvSpPr>
        <p:spPr>
          <a:xfrm>
            <a:off x="7266643" y="6517887"/>
            <a:ext cx="41168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800" b="0" i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©2023</a:t>
            </a:r>
            <a:r>
              <a:rPr kumimoji="1" lang="zh-CN" altLang="en-US" sz="800" b="0" i="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本文档版权归软通动力信息技术（集团）股份有限公司所有，并保留所有权利。</a:t>
            </a:r>
          </a:p>
        </p:txBody>
      </p:sp>
    </p:spTree>
    <p:extLst>
      <p:ext uri="{BB962C8B-B14F-4D97-AF65-F5344CB8AC3E}">
        <p14:creationId xmlns:p14="http://schemas.microsoft.com/office/powerpoint/2010/main" val="3244927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米色背景">
    <p:bg>
      <p:bgPr>
        <a:solidFill>
          <a:srgbClr val="F6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B17E703F-99FD-B845-931D-83B477E311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C3A91334-F321-5640-A28D-FDC6D8C41814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E8E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7AB64CB9-214E-434F-94F9-8A324ED648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3340117" y="3588871"/>
            <a:ext cx="1586948" cy="158694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="" xmlns:a16="http://schemas.microsoft.com/office/drawing/2014/main" id="{7B19987E-A34A-6E4D-B95E-F05DA958D156}"/>
              </a:ext>
            </a:extLst>
          </p:cNvPr>
          <p:cNvSpPr txBox="1"/>
          <p:nvPr userDrawn="1"/>
        </p:nvSpPr>
        <p:spPr>
          <a:xfrm>
            <a:off x="5034739" y="4229237"/>
            <a:ext cx="41531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北京市海淀区西北旺东路</a:t>
            </a:r>
            <a:r>
              <a:rPr kumimoji="1" lang="en-US" altLang="zh-CN" sz="16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10</a:t>
            </a:r>
            <a:r>
              <a:rPr kumimoji="1" lang="zh-CN" altLang="en-US" sz="16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号院东区</a:t>
            </a:r>
            <a:r>
              <a:rPr kumimoji="1" lang="en-US" altLang="zh-CN" sz="16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16</a:t>
            </a:r>
            <a:r>
              <a:rPr kumimoji="1" lang="zh-CN" altLang="en-US" sz="16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号楼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="" xmlns:a16="http://schemas.microsoft.com/office/drawing/2014/main" id="{54F29D40-46E5-DA41-99CD-7D064F71F0E7}"/>
              </a:ext>
            </a:extLst>
          </p:cNvPr>
          <p:cNvSpPr txBox="1"/>
          <p:nvPr userDrawn="1"/>
        </p:nvSpPr>
        <p:spPr>
          <a:xfrm>
            <a:off x="5040908" y="3780984"/>
            <a:ext cx="470131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1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软通动力信息技术</a:t>
            </a:r>
            <a:r>
              <a:rPr kumimoji="1" lang="en-US" altLang="zh-CN" sz="21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(</a:t>
            </a:r>
            <a:r>
              <a:rPr kumimoji="1" lang="zh-CN" altLang="en-US" sz="21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集团</a:t>
            </a:r>
            <a:r>
              <a:rPr kumimoji="1" lang="en-US" altLang="zh-CN" sz="21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)</a:t>
            </a:r>
            <a:r>
              <a:rPr kumimoji="1" lang="zh-CN" altLang="en-US" sz="21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股份有限公司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FBCC2B37-8D07-4A4F-89E2-8B39487F40CE}"/>
              </a:ext>
            </a:extLst>
          </p:cNvPr>
          <p:cNvSpPr txBox="1"/>
          <p:nvPr userDrawn="1"/>
        </p:nvSpPr>
        <p:spPr>
          <a:xfrm>
            <a:off x="5034738" y="4580605"/>
            <a:ext cx="2152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GB" altLang="zh-CN" sz="1600" dirty="0" err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www.isoftstone.com</a:t>
            </a:r>
            <a:endParaRPr kumimoji="1" lang="zh-CN" altLang="en-US" sz="1600" dirty="0">
              <a:solidFill>
                <a:schemeClr val="bg2">
                  <a:lumMod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="" xmlns:a16="http://schemas.microsoft.com/office/drawing/2014/main" id="{F083ECAB-4962-0240-9AE5-B70B339600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3003559" y="2069875"/>
            <a:ext cx="6184880" cy="958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3966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8" r:id="rId5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Segoe UI"/>
          <a:ea typeface="微软雅黑" panose="020B0503020204020204" pitchFamily="34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886929" y="2008090"/>
            <a:ext cx="10064398" cy="1358326"/>
          </a:xfrm>
          <a:prstGeom prst="rect">
            <a:avLst/>
          </a:prstGeom>
        </p:spPr>
        <p:txBody>
          <a:bodyPr/>
          <a:lstStyle/>
          <a:p>
            <a:r>
              <a:rPr lang="zh-CN" altLang="en-US" sz="4400" dirty="0"/>
              <a:t>持续改进</a:t>
            </a:r>
            <a:r>
              <a:rPr lang="zh-CN" altLang="en-US" sz="4400" dirty="0" smtClean="0"/>
              <a:t>案例</a:t>
            </a:r>
            <a:endParaRPr lang="en-US" altLang="zh-CN" sz="4400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920564" y="4714778"/>
            <a:ext cx="2672869" cy="389513"/>
          </a:xfrm>
          <a:prstGeom prst="roundRect">
            <a:avLst>
              <a:gd name="adj" fmla="val 50000"/>
            </a:avLst>
          </a:prstGeom>
          <a:noFill/>
          <a:ln>
            <a:solidFill>
              <a:srgbClr val="3F3F3F"/>
            </a:solidFill>
          </a:ln>
        </p:spPr>
        <p:txBody>
          <a:bodyPr wrap="square" tIns="0" rIns="0" bIns="0" rtlCol="0">
            <a:spAutoFit/>
          </a:bodyPr>
          <a:lstStyle/>
          <a:p>
            <a:r>
              <a:rPr kumimoji="1" lang="zh-CN" altLang="en-US" dirty="0" smtClean="0"/>
              <a:t>分享嘉宾：</a:t>
            </a:r>
            <a:r>
              <a:rPr kumimoji="1" lang="zh-CN" altLang="en-US" dirty="0"/>
              <a:t>代用名                 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846987" y="4714778"/>
            <a:ext cx="2690135" cy="389513"/>
          </a:xfrm>
          <a:prstGeom prst="roundRect">
            <a:avLst>
              <a:gd name="adj" fmla="val 50000"/>
            </a:avLst>
          </a:prstGeom>
          <a:noFill/>
          <a:ln>
            <a:solidFill>
              <a:srgbClr val="3F3F3F"/>
            </a:solidFill>
          </a:ln>
        </p:spPr>
        <p:txBody>
          <a:bodyPr wrap="square" tIns="0" rIns="0" bIns="0" rtlCol="0">
            <a:spAutoFit/>
          </a:bodyPr>
          <a:lstStyle/>
          <a:p>
            <a:r>
              <a:rPr kumimoji="1" lang="zh-CN" altLang="en-US" dirty="0" smtClean="0"/>
              <a:t>分享时间</a:t>
            </a:r>
            <a:r>
              <a:rPr kumimoji="1" lang="zh-CN" altLang="en-US" dirty="0"/>
              <a:t>：</a:t>
            </a:r>
            <a:r>
              <a:rPr kumimoji="1" lang="en-US" altLang="zh-CN" dirty="0"/>
              <a:t>XX</a:t>
            </a:r>
            <a:r>
              <a:rPr kumimoji="1" lang="zh-CN" altLang="en-US" dirty="0"/>
              <a:t>月</a:t>
            </a:r>
            <a:r>
              <a:rPr kumimoji="1" lang="en-US" altLang="zh-CN" dirty="0"/>
              <a:t>XX</a:t>
            </a:r>
            <a:r>
              <a:rPr kumimoji="1" lang="zh-CN" altLang="en-US" dirty="0"/>
              <a:t>日             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886929" y="3100039"/>
            <a:ext cx="10867286" cy="1402675"/>
          </a:xfrm>
        </p:spPr>
        <p:txBody>
          <a:bodyPr/>
          <a:lstStyle/>
          <a:p>
            <a:r>
              <a:rPr lang="zh-CN" altLang="en-US" sz="3600" dirty="0"/>
              <a:t>关于使用</a:t>
            </a:r>
            <a:r>
              <a:rPr lang="en-US" altLang="zh-CN" sz="3600" dirty="0"/>
              <a:t>XXXX</a:t>
            </a:r>
            <a:r>
              <a:rPr lang="zh-CN" altLang="en-US" sz="3600" dirty="0"/>
              <a:t>方法</a:t>
            </a:r>
            <a:r>
              <a:rPr lang="en-US" altLang="zh-CN" sz="3600" dirty="0"/>
              <a:t>(</a:t>
            </a:r>
            <a:r>
              <a:rPr lang="zh-CN" altLang="en-US" sz="3600" dirty="0"/>
              <a:t>平台</a:t>
            </a:r>
            <a:r>
              <a:rPr lang="en-US" altLang="zh-CN" sz="3600" dirty="0"/>
              <a:t>/</a:t>
            </a:r>
            <a:r>
              <a:rPr lang="zh-CN" altLang="en-US" sz="3600" dirty="0"/>
              <a:t>工具等）对</a:t>
            </a:r>
            <a:r>
              <a:rPr lang="en-US" altLang="zh-CN" sz="3600" dirty="0"/>
              <a:t>XXXX</a:t>
            </a:r>
            <a:r>
              <a:rPr lang="zh-CN" altLang="en-US" sz="3600" dirty="0"/>
              <a:t>问题进行改进的</a:t>
            </a:r>
            <a:r>
              <a:rPr lang="zh-CN" altLang="en-US" sz="3600" dirty="0" smtClean="0"/>
              <a:t>实践</a:t>
            </a:r>
            <a:endParaRPr lang="zh-CN" altLang="en-US" sz="3600" noProof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13756" y="4182993"/>
            <a:ext cx="8173244" cy="118894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l">
              <a:spcAft>
                <a:spcPts val="0"/>
              </a:spcAft>
            </a:pPr>
            <a:r>
              <a:rPr lang="zh-CN" b="1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宋体" pitchFamily="2" charset="-122"/>
              </a:rPr>
              <a:t>保密声明：本文件是软通</a:t>
            </a:r>
            <a:r>
              <a:rPr lang="zh-CN" b="1" kern="100" dirty="0" smtClean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宋体" pitchFamily="2" charset="-122"/>
              </a:rPr>
              <a:t>动力的</a:t>
            </a:r>
            <a:r>
              <a:rPr lang="zh-CN" b="1" kern="10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宋体" pitchFamily="2" charset="-122"/>
              </a:rPr>
              <a:t>保密信息，仅限上面知悉范围内的个人或组织使用。非此知悉范围的任何个人或组织，请勿进行查阅、复制、扩散等任何操作，否则会根据其产生的影响追究法律责任。</a:t>
            </a:r>
            <a:endParaRPr lang="zh-CN" sz="1200" kern="100" dirty="0">
              <a:effectLst/>
              <a:latin typeface="Times New Roman" panose="02020603050405020304" pitchFamily="18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754927" y="1981200"/>
            <a:ext cx="4671616" cy="1658409"/>
          </a:xfrm>
          <a:prstGeom prst="rect">
            <a:avLst/>
          </a:prstGeom>
          <a:noFill/>
          <a:ln w="12700">
            <a:solidFill>
              <a:srgbClr val="E4001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>
              <a:spcAft>
                <a:spcPts val="0"/>
              </a:spcAft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保密级别</a:t>
            </a:r>
            <a:r>
              <a:rPr lang="zh-CN" b="1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内部资料</a:t>
            </a:r>
            <a:endParaRPr 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  <a:p>
            <a:pPr>
              <a:spcAft>
                <a:spcPts val="0"/>
              </a:spcAft>
            </a:pPr>
            <a:r>
              <a:rPr lang="zh-CN" b="1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信息所有者</a:t>
            </a:r>
            <a:r>
              <a:rPr lang="zh-CN" b="1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b="1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XX</a:t>
            </a:r>
            <a:r>
              <a:rPr lang="zh-CN" altLang="en-US" b="1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部门</a:t>
            </a:r>
            <a:endParaRPr 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  <a:p>
            <a:pPr algn="l">
              <a:spcAft>
                <a:spcPts val="0"/>
              </a:spcAft>
            </a:pPr>
            <a:r>
              <a:rPr lang="zh-CN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知悉范围：仅</a:t>
            </a:r>
            <a:r>
              <a:rPr lang="zh-CN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限</a:t>
            </a:r>
            <a:r>
              <a:rPr lang="zh-CN" altLang="en-US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软通员工</a:t>
            </a:r>
            <a:endParaRPr lang="en-US" altLang="zh-CN" b="1" kern="100" dirty="0" smtClean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  <a:p>
            <a:pPr algn="l">
              <a:spcAft>
                <a:spcPts val="0"/>
              </a:spcAft>
            </a:pPr>
            <a:r>
              <a:rPr lang="zh-CN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保密</a:t>
            </a:r>
            <a:r>
              <a:rPr lang="zh-CN" b="1" kern="1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期限：</a:t>
            </a:r>
            <a:r>
              <a:rPr lang="zh-CN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到</a:t>
            </a:r>
            <a:r>
              <a:rPr lang="en-US" altLang="zh-CN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XXXX</a:t>
            </a:r>
            <a:r>
              <a:rPr lang="en-US" b="1" kern="100" dirty="0" smtClean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itchFamily="2" charset="-122"/>
              </a:rPr>
              <a:t>/XX/XX</a:t>
            </a:r>
            <a:endParaRPr lang="zh-CN" kern="1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itchFamily="2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3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dirty="0"/>
          </a:p>
        </p:txBody>
      </p:sp>
      <p:sp>
        <p:nvSpPr>
          <p:cNvPr id="4" name="Rectangle 24"/>
          <p:cNvSpPr txBox="1">
            <a:spLocks noChangeArrowheads="1"/>
          </p:cNvSpPr>
          <p:nvPr/>
        </p:nvSpPr>
        <p:spPr>
          <a:xfrm>
            <a:off x="1805443" y="800051"/>
            <a:ext cx="8687066" cy="5618604"/>
          </a:xfrm>
          <a:prstGeom prst="rect">
            <a:avLst/>
          </a:prstGeom>
          <a:noFill/>
        </p:spPr>
        <p:txBody>
          <a:bodyPr/>
          <a:lstStyle/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嘉奖导向：以优秀实践应用为导向，采取事后认可的方式，嘉奖应用有成效的优秀实践。</a:t>
            </a: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400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以下要点供参考，材料详略程度需能支撑分享和他人学习的目的：</a:t>
            </a: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优秀实践简介（必备）</a:t>
            </a: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当前问题</a:t>
            </a:r>
            <a:r>
              <a:rPr lang="zh-CN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sym typeface="+mn-ea"/>
              </a:rPr>
              <a:t>（必备）</a:t>
            </a:r>
            <a:endParaRPr lang="zh-CN" altLang="en-US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分析根因</a:t>
            </a: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拟定对策和制定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方案（必备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）</a:t>
            </a:r>
            <a:endParaRPr lang="zh-CN" altLang="en-US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对策实施</a:t>
            </a:r>
            <a:r>
              <a:rPr lang="zh-CN" altLang="en-US" sz="18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sym typeface="+mn-ea"/>
              </a:rPr>
              <a:t>（必备</a:t>
            </a:r>
            <a:r>
              <a:rPr lang="zh-CN" altLang="en-US" sz="18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sym typeface="+mn-ea"/>
              </a:rPr>
              <a:t>）</a:t>
            </a:r>
            <a:endParaRPr lang="zh-CN" altLang="en-US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（必备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）</a:t>
            </a:r>
            <a:endParaRPr lang="en-US" altLang="zh-CN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  <a:p>
            <a:pPr marL="342900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实践取得的成果（必备）</a:t>
            </a:r>
          </a:p>
          <a:p>
            <a:pPr marL="742950" lvl="1" indent="-286385" defTabSz="91440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可复制</a:t>
            </a:r>
            <a:r>
              <a:rPr lang="en-US" altLang="zh-CN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DNA</a:t>
            </a:r>
            <a:endParaRPr lang="zh-CN" altLang="en-US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6385" defTabSz="91440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成果</a:t>
            </a: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固化及附件</a:t>
            </a:r>
            <a:endParaRPr lang="zh-CN" altLang="en-US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优秀实践应用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（必备）</a:t>
            </a:r>
            <a:endParaRPr lang="en-US" altLang="zh-CN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  <a:p>
            <a:pPr marL="742950" lvl="1" indent="-286385" defTabSz="91440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实践应用场景和建议推广</a:t>
            </a: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endParaRPr lang="en-US" altLang="zh-CN" sz="1400" kern="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6385" defTabSz="91440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产品线推广和被应用</a:t>
            </a: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endParaRPr lang="zh-CN" altLang="en-US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6385" defTabSz="91440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sym typeface="+mn-ea"/>
              </a:rPr>
              <a:t>推广至其他产线的</a:t>
            </a: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sym typeface="+mn-ea"/>
              </a:rPr>
              <a:t>收益</a:t>
            </a:r>
          </a:p>
          <a:p>
            <a:pPr marL="742950" lvl="1" indent="-286385" defTabSz="914400">
              <a:lnSpc>
                <a:spcPct val="120000"/>
              </a:lnSpc>
              <a:spcBef>
                <a:spcPct val="20000"/>
              </a:spcBef>
              <a:buFontTx/>
              <a:buChar char="–"/>
              <a:defRPr/>
            </a:pP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应用他人的优秀</a:t>
            </a:r>
            <a:r>
              <a:rPr lang="zh-CN" altLang="en-US" sz="14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</a:t>
            </a:r>
            <a:endParaRPr lang="zh-CN" altLang="en-US" sz="14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4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优秀实践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简介</a:t>
            </a:r>
            <a:r>
              <a:rPr lang="zh-CN" altLang="en-US" dirty="0" smtClean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458005" y="1554390"/>
            <a:ext cx="9253537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defTabSz="914400">
              <a:spcBef>
                <a:spcPct val="20000"/>
              </a:spcBef>
              <a:defRPr/>
            </a:pP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本页用于优秀实践宣传，要求内容简洁、要点突出，图文并茂，篇幅</a:t>
            </a:r>
            <a:r>
              <a:rPr lang="en-US" altLang="zh-CN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页为宜。</a:t>
            </a:r>
          </a:p>
          <a:p>
            <a:pPr defTabSz="914400">
              <a:spcBef>
                <a:spcPct val="20000"/>
              </a:spcBef>
              <a:defRPr/>
            </a:pPr>
            <a:r>
              <a:rPr lang="en-US" altLang="zh-CN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当前问题</a:t>
            </a:r>
            <a:r>
              <a:rPr lang="en-US" altLang="zh-CN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defTabSz="914400">
              <a:spcBef>
                <a:spcPct val="20000"/>
              </a:spcBef>
              <a:defRPr/>
            </a:pPr>
            <a:r>
              <a: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解决方案</a:t>
            </a:r>
            <a:r>
              <a: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实践效果</a:t>
            </a:r>
            <a:r>
              <a: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建议从：质量、效率和成本方面总结。</a:t>
            </a:r>
          </a:p>
          <a:p>
            <a:pPr defTabSz="914400">
              <a:spcBef>
                <a:spcPct val="20000"/>
              </a:spcBef>
              <a:defRPr/>
            </a:pPr>
            <a:r>
              <a: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建议应用场景</a:t>
            </a:r>
            <a:r>
              <a:rPr lang="en-US" altLang="zh-CN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展示区，最好用图或表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展示</a:t>
            </a:r>
            <a:endParaRPr lang="en-US" altLang="zh-CN" i="1" kern="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lang="en-US" altLang="zh-CN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【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环境依赖信息</a:t>
            </a:r>
            <a:r>
              <a:rPr lang="en-US" altLang="zh-CN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】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包括所用到的所依赖的平台、系统、软件、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工具、组件包等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列举与主要功能简述，并且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标明：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是否开源、是否自研、是否客户提供、是否软通自有知识产权，开源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的是否有可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替换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产品（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平台、系统、软件、工具、组件包等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）。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且该页暂不脱敏，需按实际情况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列出。</a:t>
            </a:r>
            <a:endParaRPr lang="en-US" altLang="zh-CN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defRPr/>
            </a:pPr>
            <a:r>
              <a:rPr lang="en-US" altLang="zh-CN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【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亮点总结</a:t>
            </a:r>
            <a:r>
              <a:rPr lang="en-US" altLang="zh-CN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】</a:t>
            </a:r>
            <a:r>
              <a:rPr lang="zh-CN" altLang="en-US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用一句话简要说明案例亮点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5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当前问题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45091" y="1510847"/>
            <a:ext cx="7929562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marL="342900" indent="-342900" defTabSz="914400">
              <a:lnSpc>
                <a:spcPct val="13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描述本实践发起的背景和问题（目标）。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6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根因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555977" y="1597933"/>
            <a:ext cx="9220879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简要介绍分析根因的思路和根因。（可用鱼骨图等形式展现）</a:t>
            </a:r>
          </a:p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endParaRPr lang="zh-CN" altLang="en-US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7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拟定对策和制定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240291" y="1597933"/>
            <a:ext cx="9536565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marL="342900" indent="-342900" defTabSz="914400">
              <a:lnSpc>
                <a:spcPct val="11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为便于读者学习和借鉴，请具体介绍对策和方案，提供必要的细节说明，以及采用此方案对其他方面的依赖关系，比如：使用人（能力要求）、机器（硬件配置和操作系统）、方法、周边部门配合的依赖关系。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8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对策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实施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414462" y="1445533"/>
            <a:ext cx="9416823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对策实施</a:t>
            </a:r>
          </a:p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简略描述实施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过程，并提供改进实施落地的成果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展示（成果展示可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附件、可截图，形式不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限</a:t>
            </a:r>
            <a:r>
              <a:rPr lang="zh-CN" altLang="en-US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i="1" kern="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endParaRPr lang="zh-CN" altLang="en-US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defTabSz="914400">
              <a:spcBef>
                <a:spcPct val="20000"/>
              </a:spcBef>
              <a:buNone/>
              <a:defRPr/>
            </a:pPr>
            <a:endParaRPr lang="zh-CN" altLang="en-US" sz="1400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9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确认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414462" y="1445533"/>
            <a:ext cx="9416823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可衡量的实践效果</a:t>
            </a:r>
          </a:p>
          <a:p>
            <a:pPr marL="342900" indent="-342900"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请针对</a:t>
            </a:r>
            <a:r>
              <a:rPr lang="zh-CN" altLang="en-US" i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实践结果、过程效率、全生命周期成本、客户满意度等</a:t>
            </a:r>
            <a:r>
              <a:rPr lang="zh-CN" altLang="en-US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方面描述实践改进前后最终定量的效果对比分析。若确实无法衡量，请说明原因。</a:t>
            </a:r>
            <a:endParaRPr lang="zh-CN" altLang="en-US" sz="1400" kern="0" dirty="0">
              <a:solidFill>
                <a:srgbClr val="00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10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实践取得的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成果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338263" y="1369333"/>
            <a:ext cx="9590994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1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可复制的</a:t>
            </a:r>
            <a:r>
              <a:rPr lang="en-US" altLang="zh-CN" sz="1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DNA</a:t>
            </a:r>
            <a:endParaRPr lang="zh-CN" altLang="en-US" sz="19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17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同样场景下，可在其他团队中推广和复制的</a:t>
            </a:r>
            <a:r>
              <a:rPr lang="en-US" altLang="zh-CN" sz="17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DNA</a:t>
            </a:r>
            <a:r>
              <a:rPr lang="zh-CN" altLang="en-US" sz="17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700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endParaRPr lang="zh-CN" altLang="en-US" sz="17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endParaRPr lang="zh-CN" altLang="en-US" sz="1700" kern="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lnSpc>
                <a:spcPct val="12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19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成果固化和</a:t>
            </a:r>
            <a:r>
              <a:rPr lang="zh-CN" altLang="en-US" sz="19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附件</a:t>
            </a:r>
            <a:r>
              <a:rPr lang="zh-CN" altLang="en-US" sz="1700" i="1" kern="0" dirty="0" smtClean="0">
                <a:solidFill>
                  <a:srgbClr val="FF0000"/>
                </a:solidFill>
                <a:latin typeface="微软雅黑" panose="020B0503020204020204" pitchFamily="34" charset="-122"/>
              </a:rPr>
              <a:t>（该部分内容供</a:t>
            </a:r>
            <a:r>
              <a:rPr lang="zh-CN" altLang="en-US" sz="17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其他团队参考</a:t>
            </a:r>
            <a:r>
              <a:rPr lang="zh-CN" altLang="en-US" sz="1700" i="1" kern="0" dirty="0" smtClean="0">
                <a:solidFill>
                  <a:srgbClr val="FF0000"/>
                </a:solidFill>
                <a:latin typeface="微软雅黑" panose="020B0503020204020204" pitchFamily="34" charset="-122"/>
              </a:rPr>
              <a:t>使用、借鉴</a:t>
            </a:r>
            <a:r>
              <a:rPr lang="zh-CN" altLang="en-US" sz="17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、</a:t>
            </a:r>
            <a:r>
              <a:rPr lang="zh-CN" altLang="en-US" sz="1700" i="1" kern="0" dirty="0" smtClean="0">
                <a:solidFill>
                  <a:srgbClr val="FF0000"/>
                </a:solidFill>
                <a:latin typeface="微软雅黑" panose="020B0503020204020204" pitchFamily="34" charset="-122"/>
              </a:rPr>
              <a:t>复用）</a:t>
            </a:r>
            <a:endParaRPr lang="zh-CN" altLang="en-US" sz="1700" i="1" kern="0" dirty="0">
              <a:solidFill>
                <a:srgbClr val="FF0000"/>
              </a:solidFill>
              <a:latin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16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描述实践的过程、结果的固化情况</a:t>
            </a: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en-US" sz="16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请将适于推广的指导书、</a:t>
            </a:r>
            <a:r>
              <a:rPr lang="en-US" altLang="zh-CN" sz="16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checklist</a:t>
            </a:r>
            <a:r>
              <a:rPr lang="zh-CN" altLang="en-US" sz="16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模板、成果文件附</a:t>
            </a:r>
            <a:r>
              <a:rPr lang="zh-CN" altLang="en-US" sz="16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</a:t>
            </a:r>
            <a:r>
              <a:rPr lang="zh-CN" altLang="en-US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页或</a:t>
            </a:r>
            <a:r>
              <a:rPr lang="zh-CN" altLang="en-US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请上传至</a:t>
            </a:r>
            <a:r>
              <a:rPr lang="zh-CN" altLang="zh-CN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持续改进平台，</a:t>
            </a:r>
            <a:r>
              <a:rPr lang="zh-CN" altLang="en-US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以便形成组织资产，在组织内推广、复用。</a:t>
            </a:r>
            <a:endParaRPr lang="en-US" altLang="zh-CN" sz="1600" i="1" kern="0" dirty="0" smtClean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zh-CN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持续</a:t>
            </a:r>
            <a:r>
              <a:rPr lang="zh-CN" altLang="zh-CN" sz="1600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改进成果包括：工具、系统、表单、文档、持续改进案例</a:t>
            </a:r>
            <a:r>
              <a:rPr lang="en-US" altLang="zh-CN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PPT</a:t>
            </a:r>
            <a:r>
              <a:rPr lang="zh-CN" altLang="en-US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。</a:t>
            </a:r>
            <a:endParaRPr lang="en-US" altLang="zh-CN" sz="1600" i="1" kern="0" dirty="0" smtClean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zh-CN" altLang="zh-CN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超过</a:t>
            </a:r>
            <a:r>
              <a:rPr lang="en-US" altLang="zh-CN" sz="1600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5</a:t>
            </a:r>
            <a:r>
              <a:rPr lang="zh-CN" altLang="zh-CN" sz="1600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个文件请打压缩包上</a:t>
            </a:r>
            <a:r>
              <a:rPr lang="zh-CN" altLang="zh-CN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传</a:t>
            </a:r>
            <a:r>
              <a:rPr lang="zh-CN" altLang="en-US" sz="16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。</a:t>
            </a:r>
            <a:endParaRPr lang="en-US" altLang="zh-CN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lnSpc>
                <a:spcPct val="105000"/>
              </a:lnSpc>
              <a:spcBef>
                <a:spcPct val="20000"/>
              </a:spcBef>
              <a:defRPr/>
            </a:pPr>
            <a:r>
              <a:rPr lang="zh-CN" altLang="en-US" sz="14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该部分需</a:t>
            </a:r>
            <a:r>
              <a:rPr lang="zh-CN" altLang="en-US" sz="1400" i="1" kern="0" dirty="0" smtClean="0">
                <a:solidFill>
                  <a:srgbClr val="FF0000"/>
                </a:solidFill>
                <a:latin typeface="微软雅黑" panose="020B0503020204020204" pitchFamily="34" charset="-122"/>
              </a:rPr>
              <a:t>明确每个</a:t>
            </a:r>
            <a:r>
              <a:rPr lang="zh-CN" altLang="en-US" sz="14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成果可推广及复用的范围（全公司、</a:t>
            </a:r>
            <a:r>
              <a:rPr lang="en-US" altLang="zh-CN" sz="14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BG</a:t>
            </a:r>
            <a:r>
              <a:rPr lang="zh-CN" altLang="en-US" sz="14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内、</a:t>
            </a:r>
            <a:r>
              <a:rPr lang="en-US" altLang="zh-CN" sz="14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BD</a:t>
            </a:r>
            <a:r>
              <a:rPr lang="zh-CN" altLang="en-US" sz="1400" i="1" kern="0" dirty="0">
                <a:solidFill>
                  <a:srgbClr val="FF0000"/>
                </a:solidFill>
                <a:latin typeface="微软雅黑" panose="020B0503020204020204" pitchFamily="34" charset="-122"/>
              </a:rPr>
              <a:t>内、项目级）</a:t>
            </a: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9235"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143000" lvl="2" indent="-229235" defTabSz="914400">
              <a:lnSpc>
                <a:spcPct val="105000"/>
              </a:lnSpc>
              <a:spcBef>
                <a:spcPct val="20000"/>
              </a:spcBef>
              <a:buFontTx/>
              <a:buChar char="•"/>
              <a:defRPr/>
            </a:pP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01955" lvl="1" indent="0" defTabSz="914400">
              <a:lnSpc>
                <a:spcPct val="105000"/>
              </a:lnSpc>
              <a:spcBef>
                <a:spcPct val="20000"/>
              </a:spcBef>
              <a:buFontTx/>
              <a:buChar char="–"/>
              <a:defRPr/>
            </a:pPr>
            <a:endParaRPr lang="zh-CN" altLang="en-US" sz="17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11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优秀实践应用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（必备）</a:t>
            </a:r>
            <a:endParaRPr lang="zh-CN" alt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201000" y="1412876"/>
            <a:ext cx="9624348" cy="41941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8" tIns="45715" rIns="91428" bIns="45715" numCol="1" anchor="t" anchorCtr="0" compatLnSpc="1"/>
          <a:lstStyle/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实践应用场景和建议推广范围</a:t>
            </a: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14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介绍本实践可应用在哪些场景，推广策略是什么？比如适用于哪些产品或团队。有没有限制条件？</a:t>
            </a: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endParaRPr lang="zh-CN" altLang="en-US" sz="14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endParaRPr lang="zh-CN" altLang="en-US" sz="16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本产品线的推广和应用情况</a:t>
            </a: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14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提供在本产品线推广的证明，不限于实践推广的会议纪要、应用者的邮件等。原则上只嘉奖应用有成效的优秀实践</a:t>
            </a:r>
            <a:r>
              <a:rPr lang="zh-CN" altLang="en-US" sz="1400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i="1" kern="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defRPr/>
            </a:pP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marL="285750" indent="-285750" defTabSz="914400">
              <a:spcBef>
                <a:spcPct val="20000"/>
              </a:spcBef>
              <a:buFontTx/>
              <a:buChar char="•"/>
              <a:defRPr/>
            </a:pPr>
            <a:endParaRPr lang="zh-CN" altLang="en-US" sz="14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en-US" altLang="zh-CN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BG/BD/BU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内的推广计划</a:t>
            </a:r>
            <a:r>
              <a:rPr lang="zh-CN" altLang="en-US" sz="14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14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该计划需符合实际，可跟踪，不要求申报团队必须跟踪</a:t>
            </a:r>
            <a:r>
              <a:rPr lang="zh-CN" altLang="en-US" sz="1400" i="1" kern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400" i="1" kern="0" dirty="0" smtClean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endParaRPr lang="en-US" altLang="zh-CN" sz="1400" i="1" kern="0" dirty="0" smtClean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1600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推广</a:t>
            </a:r>
            <a:r>
              <a:rPr lang="zh-CN" alt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</a:rPr>
              <a:t>至其他产线的收益</a:t>
            </a:r>
          </a:p>
          <a:p>
            <a:pPr defTabSz="9144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1400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包括已产生的收益 </a:t>
            </a:r>
            <a:r>
              <a:rPr lang="zh-CN" altLang="en-US" sz="1400" i="1" kern="0" dirty="0" smtClean="0">
                <a:solidFill>
                  <a:srgbClr val="0000FF"/>
                </a:solidFill>
                <a:latin typeface="微软雅黑" panose="020B0503020204020204" pitchFamily="34" charset="-122"/>
              </a:rPr>
              <a:t>及 推广后的预期</a:t>
            </a:r>
            <a:r>
              <a:rPr lang="zh-CN" altLang="en-US" sz="1400" i="1" kern="0" dirty="0">
                <a:solidFill>
                  <a:srgbClr val="0000FF"/>
                </a:solidFill>
                <a:latin typeface="微软雅黑" panose="020B0503020204020204" pitchFamily="34" charset="-122"/>
              </a:rPr>
              <a:t>收益</a:t>
            </a: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5AA548-F88F-1644-9623-DEB29B1AF9E7}" type="slidenum">
              <a:rPr kumimoji="1" lang="zh-CN" altLang="en-US" smtClean="0"/>
              <a:t>12</a:t>
            </a:fld>
            <a:endParaRPr kumimoji="1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优秀实践应用情况（续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/>
          </a:p>
        </p:txBody>
      </p:sp>
      <p:graphicFrame>
        <p:nvGraphicFramePr>
          <p:cNvPr id="4" name="Group 51"/>
          <p:cNvGraphicFramePr/>
          <p:nvPr/>
        </p:nvGraphicFramePr>
        <p:xfrm>
          <a:off x="1382258" y="2145847"/>
          <a:ext cx="9438141" cy="1838214"/>
        </p:xfrm>
        <a:graphic>
          <a:graphicData uri="http://schemas.openxmlformats.org/drawingml/2006/table">
            <a:tbl>
              <a:tblPr/>
              <a:tblGrid>
                <a:gridCol w="3189742"/>
                <a:gridCol w="1360714"/>
                <a:gridCol w="1447800"/>
                <a:gridCol w="3439885"/>
              </a:tblGrid>
              <a:tr h="647700">
                <a:tc>
                  <a:txBody>
                    <a:bodyPr/>
                    <a:lstStyle/>
                    <a:p>
                      <a:pPr marL="0" marR="0" lvl="0" indent="0" algn="ctr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优秀实践编号和名称</a:t>
                      </a:r>
                    </a:p>
                  </a:txBody>
                  <a:tcPr marL="79200" marR="79200" marT="39600" marB="396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实践申报人</a:t>
                      </a: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借鉴的经验</a:t>
                      </a: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</a:tr>
              <a:tr h="769938"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6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编号－实践名称</a:t>
                      </a:r>
                    </a:p>
                  </a:txBody>
                  <a:tcPr marL="79200" marR="79200" marT="39600" marB="396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xx/xxx</a:t>
                      </a: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600" b="0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4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借鉴了已有实践的哪些经验，对本实践的影响。</a:t>
                      </a: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5575"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00" marR="79200" marT="39600" marB="396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02005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200" marR="79200" marT="39600" marB="396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1319131" y="1354157"/>
            <a:ext cx="8866322" cy="50927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79200" tIns="39600" rIns="79200" bIns="39600">
            <a:spAutoFit/>
          </a:bodyPr>
          <a:lstStyle/>
          <a:p>
            <a:pPr defTabSz="802005">
              <a:lnSpc>
                <a:spcPct val="140000"/>
              </a:lnSpc>
              <a:buClr>
                <a:schemeClr val="bg2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应用他人的优秀实践记录，若无，可不填写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458687" y="5834965"/>
            <a:ext cx="942702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1087755"/>
            <a:r>
              <a:rPr lang="zh-CN" altLang="en-US" sz="1600" i="1" dirty="0" smtClean="0">
                <a:solidFill>
                  <a:srgbClr val="59565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软通动力质量方针：品质源于细节，安全成就信任，为高品质产品和服务保驾护航</a:t>
            </a:r>
            <a:endParaRPr lang="zh-CN" altLang="en-US" sz="1600" i="1" dirty="0">
              <a:solidFill>
                <a:srgbClr val="59565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ww.isoftstone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深邃商务蓝">
      <a:majorFont>
        <a:latin typeface="Segoe UI"/>
        <a:ea typeface="微软雅黑"/>
        <a:cs typeface=""/>
      </a:majorFont>
      <a:minorFont>
        <a:latin typeface="Segoe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1534</TotalTime>
  <Words>937</Words>
  <Application>Microsoft Office PowerPoint</Application>
  <PresentationFormat>宽屏</PresentationFormat>
  <Paragraphs>96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宋体</vt:lpstr>
      <vt:lpstr>Microsoft YaHei</vt:lpstr>
      <vt:lpstr>Microsoft YaHei</vt:lpstr>
      <vt:lpstr>Arial</vt:lpstr>
      <vt:lpstr>Calibri</vt:lpstr>
      <vt:lpstr>Segoe UI</vt:lpstr>
      <vt:lpstr>Times New Roman</vt:lpstr>
      <vt:lpstr>Wingdings</vt:lpstr>
      <vt:lpstr>www.isoftstone.com</vt:lpstr>
      <vt:lpstr>PowerPoint 演示文稿</vt:lpstr>
      <vt:lpstr>PowerPoint 演示文稿</vt:lpstr>
      <vt:lpstr>目录</vt:lpstr>
      <vt:lpstr>优秀实践简介（必备）</vt:lpstr>
      <vt:lpstr>当前问题（必备）</vt:lpstr>
      <vt:lpstr>根因分析</vt:lpstr>
      <vt:lpstr>拟定对策和制定方案（必备）</vt:lpstr>
      <vt:lpstr>对策实施（必备）</vt:lpstr>
      <vt:lpstr>效果确认（必备）</vt:lpstr>
      <vt:lpstr>实践取得的成果（必备）</vt:lpstr>
      <vt:lpstr>优秀实践应用情况（必备）</vt:lpstr>
      <vt:lpstr>优秀实践应用情况（续）</vt:lpstr>
      <vt:lpstr>PowerPoint 演示文稿</vt:lpstr>
    </vt:vector>
  </TitlesOfParts>
  <Company>软通动力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软通动力</dc:title>
  <dc:creator>软通动力</dc:creator>
  <cp:keywords>www.isoftstone.com</cp:keywords>
  <dc:description>www.isoftstone.com</dc:description>
  <cp:lastModifiedBy>Yang,Yuan</cp:lastModifiedBy>
  <cp:revision>6</cp:revision>
  <dcterms:created xsi:type="dcterms:W3CDTF">2023-02-13T03:53:30Z</dcterms:created>
  <dcterms:modified xsi:type="dcterms:W3CDTF">2024-03-26T03:20:41Z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